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manu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_rays_tile.png"/>
          <p:cNvPicPr>
            <a:picLocks noChangeAspect="1"/>
          </p:cNvPicPr>
          <p:nvPr/>
        </p:nvPicPr>
        <p:blipFill>
          <a:blip r:embed="rId3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0" y="2834640"/>
            <a:ext cx="11148085908000" cy="4023360"/>
          </a:xfrm>
          <a:custGeom>
            <a:avLst/>
            <a:gdLst/>
            <a:ahLst/>
            <a:cxnLst/>
            <a:rect l="l" t="t" r="r" b="b"/>
            <a:pathLst>
              <a:path w="11148085908000" h="4023360">
                <a:moveTo>
                  <a:pt x="0" y="4023360"/>
                </a:moveTo>
                <a:lnTo>
                  <a:pt x="0" y="1920240"/>
                </a:lnTo>
                <a:lnTo>
                  <a:pt x="731520" y="1280160"/>
                </a:lnTo>
                <a:lnTo>
                  <a:pt x="1371600" y="1554480"/>
                </a:lnTo>
                <a:lnTo>
                  <a:pt x="2103120" y="822960"/>
                </a:lnTo>
                <a:lnTo>
                  <a:pt x="2743200" y="1280160"/>
                </a:lnTo>
                <a:lnTo>
                  <a:pt x="3474720" y="457200"/>
                </a:lnTo>
                <a:lnTo>
                  <a:pt x="4206240" y="1005840"/>
                </a:lnTo>
                <a:lnTo>
                  <a:pt x="5029200" y="365760"/>
                </a:lnTo>
                <a:lnTo>
                  <a:pt x="5760720" y="731520"/>
                </a:lnTo>
                <a:lnTo>
                  <a:pt x="6400800" y="182880"/>
                </a:lnTo>
                <a:lnTo>
                  <a:pt x="7132320" y="548640"/>
                </a:lnTo>
                <a:lnTo>
                  <a:pt x="7772400" y="0"/>
                </a:lnTo>
                <a:lnTo>
                  <a:pt x="8412480" y="457200"/>
                </a:lnTo>
                <a:lnTo>
                  <a:pt x="8961120" y="91440"/>
                </a:lnTo>
                <a:lnTo>
                  <a:pt x="9601200" y="640080"/>
                </a:lnTo>
                <a:lnTo>
                  <a:pt x="10241280" y="274320"/>
                </a:lnTo>
                <a:lnTo>
                  <a:pt x="10789920" y="640080"/>
                </a:lnTo>
                <a:lnTo>
                  <a:pt x="11430000" y="365760"/>
                </a:lnTo>
                <a:lnTo>
                  <a:pt x="11887200" y="822960"/>
                </a:lnTo>
                <a:lnTo>
                  <a:pt x="11148085908000" y="640080"/>
                </a:lnTo>
                <a:lnTo>
                  <a:pt x="11148085908000" y="4023360"/>
                </a:lnTo>
              </a:path>
            </a:pathLst>
          </a:custGeom>
          <a:solidFill>
            <a:srgbClr val="C41E3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1920240"/>
            <a:ext cx="1097280" cy="21945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7589520" y="1371600"/>
            <a:ext cx="1463040" cy="640080"/>
          </a:xfrm>
          <a:prstGeom prst="triangl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457200"/>
            <a:ext cx="4297680" cy="4297680"/>
          </a:xfrm>
          <a:prstGeom prst="ellipse">
            <a:avLst/>
          </a:prstGeom>
          <a:ln>
            <a:noFill/>
          </a:ln>
          <a:gradFill>
            <a:path path="circle">
              <a:fillToRect l="50000" t="50000" r="50000" b="50000"/>
            </a:path>
            <a:gsLst>
              <a:gs pos="0">
                <a:srgbClr val="D4A843">
                  <a:alpha val="35000"/>
                </a:srgbClr>
              </a:gs>
              <a:gs pos="100000">
                <a:srgbClr val="D4A843">
                  <a:alpha val="0"/>
                </a:srgb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548640" y="365760"/>
            <a:ext cx="914400" cy="914400"/>
          </a:xfrm>
          <a:prstGeom prst="star5">
            <a:avLst>
              <a:gd name="adj" fmla="val 40000"/>
              <a:gd name="hf" fmla="val 105146"/>
              <a:gd name="vf" fmla="val 110557"/>
            </a:avLst>
          </a:prstGeom>
          <a:solidFill>
            <a:srgbClr val="D4A843"/>
          </a:solidFill>
          <a:ln>
            <a:noFill/>
          </a:ln>
          <a:effectLst>
            <a:outerShdw blurRad="101600" dist="38100" dir="8100000" algn="tl">
              <a:srgbClr val="2C2C2C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ave 8"/>
          <p:cNvSpPr/>
          <p:nvPr/>
        </p:nvSpPr>
        <p:spPr>
          <a:xfrm>
            <a:off x="1371600" y="822960"/>
            <a:ext cx="9601200" cy="457200"/>
          </a:xfrm>
          <a:prstGeom prst="wave">
            <a:avLst/>
          </a:prstGeom>
          <a:ln>
            <a:noFill/>
          </a:ln>
          <a:gradFill>
            <a:lin ang="5400000" scaled="0"/>
            <a:gsLst>
              <a:gs pos="0">
                <a:srgbClr val="C41E3A"/>
              </a:gs>
              <a:gs pos="100000">
                <a:srgbClr val="D4A843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689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7238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47872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7433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9824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25312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4400" b="1">
                <a:solidFill>
                  <a:srgbClr val="C41E3A"/>
                </a:solidFill>
                <a:latin typeface="演示悠然小楷"/>
              </a:defRPr>
            </a:pPr>
            <a:r>
              <a:t>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841248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800" b="1">
                <a:solidFill>
                  <a:srgbClr val="D4A843"/>
                </a:solidFill>
                <a:latin typeface="阿里巴巴普惠体 Medium"/>
              </a:defRPr>
            </a:pPr>
            <a:r>
              <a:t>2025-2026学年第二学期期中家长会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126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200" b="0">
                <a:solidFill>
                  <a:srgbClr val="FFFFFF"/>
                </a:solidFill>
                <a:latin typeface="阿里巴巴普惠体 Medium"/>
              </a:defRPr>
            </a:pPr>
            <a:r>
              <a:t>某某中学  |  七年级（3）班  |  2026.5.25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manu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_rays_tile.png"/>
          <p:cNvPicPr>
            <a:picLocks noChangeAspect="1"/>
          </p:cNvPicPr>
          <p:nvPr/>
        </p:nvPicPr>
        <p:blipFill>
          <a:blip r:embed="rId3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200"/>
              </a:lnSpc>
              <a:defRPr sz="2800" b="1">
                <a:solidFill>
                  <a:srgbClr val="C41E3A"/>
                </a:solidFill>
                <a:latin typeface="演示悠然小楷"/>
              </a:defRPr>
            </a:pPr>
            <a:r>
              <a:t>行军路线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097280"/>
            <a:ext cx="1828800" cy="731520"/>
          </a:xfrm>
          <a:prstGeom prst="line">
            <a:avLst/>
          </a:prstGeom>
          <a:ln w="1905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00400" y="1828800"/>
            <a:ext cx="1828800" cy="914400"/>
          </a:xfrm>
          <a:prstGeom prst="line">
            <a:avLst/>
          </a:prstGeom>
          <a:ln w="1905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0" y="2743200"/>
            <a:ext cx="2286000" cy="1371600"/>
          </a:xfrm>
          <a:prstGeom prst="line">
            <a:avLst/>
          </a:prstGeom>
          <a:ln w="1905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4114800"/>
            <a:ext cx="2286000" cy="1188720"/>
          </a:xfrm>
          <a:prstGeom prst="line">
            <a:avLst/>
          </a:prstGeom>
          <a:ln w="1905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34440" y="960120"/>
            <a:ext cx="411480" cy="411480"/>
          </a:xfrm>
          <a:prstGeom prst="ellipse">
            <a:avLst/>
          </a:prstGeom>
          <a:solidFill>
            <a:srgbClr val="F2ECE4"/>
          </a:solidFill>
          <a:ln w="254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05156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0">
                <a:solidFill>
                  <a:srgbClr val="2C2C2C"/>
                </a:solidFill>
                <a:latin typeface="阿里巴巴普惠体 Medium"/>
              </a:defRPr>
            </a:pPr>
            <a:r>
              <a:t>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005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C41E3A"/>
                </a:solidFill>
                <a:latin typeface="演示悠然小楷"/>
              </a:defRPr>
            </a:pPr>
            <a:r>
              <a:t>班情·烽火传讯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2801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defRPr sz="1100" b="0">
                <a:solidFill>
                  <a:srgbClr val="888888"/>
                </a:solidFill>
                <a:latin typeface="阿里巴巴普惠体 Medium"/>
              </a:defRPr>
            </a:pPr>
            <a:r>
              <a:t>约10分钟</a:t>
            </a:r>
          </a:p>
        </p:txBody>
      </p:sp>
      <p:sp>
        <p:nvSpPr>
          <p:cNvPr id="13" name="Oval 12"/>
          <p:cNvSpPr/>
          <p:nvPr/>
        </p:nvSpPr>
        <p:spPr>
          <a:xfrm>
            <a:off x="3063240" y="1691640"/>
            <a:ext cx="411480" cy="41148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D4A843"/>
            </a:solidFill>
          </a:ln>
          <a:effectLst>
            <a:outerShdw blurRad="101600" dist="25400" dir="8100000" algn="tl">
              <a:srgbClr val="2C2C2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26080" y="1554480"/>
            <a:ext cx="685800" cy="685800"/>
          </a:xfrm>
          <a:prstGeom prst="ellipse">
            <a:avLst/>
          </a:prstGeom>
          <a:ln>
            <a:noFill/>
          </a:ln>
          <a:gradFill>
            <a:path path="circle">
              <a:fillToRect l="50000" t="50000" r="50000" b="50000"/>
            </a:path>
            <a:gsLst>
              <a:gs pos="0">
                <a:srgbClr val="D4A843">
                  <a:alpha val="30000"/>
                </a:srgbClr>
              </a:gs>
              <a:gs pos="100000">
                <a:srgbClr val="D4A843">
                  <a:alpha val="0"/>
                </a:srgb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78308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0">
                <a:solidFill>
                  <a:srgbClr val="2C2C2C"/>
                </a:solidFill>
                <a:latin typeface="阿里巴巴普惠体 Medium"/>
              </a:defRPr>
            </a:pPr>
            <a:r>
              <a:t>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37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C41E3A"/>
                </a:solidFill>
                <a:latin typeface="演示悠然小楷"/>
              </a:defRPr>
            </a:pPr>
            <a:r>
              <a:t>学情·号角研判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011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defRPr sz="1100" b="0">
                <a:solidFill>
                  <a:srgbClr val="888888"/>
                </a:solidFill>
                <a:latin typeface="阿里巴巴普惠体 Medium"/>
              </a:defRPr>
            </a:pPr>
            <a:r>
              <a:t>约15分钟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2606040"/>
            <a:ext cx="411480" cy="411480"/>
          </a:xfrm>
          <a:prstGeom prst="ellipse">
            <a:avLst/>
          </a:prstGeom>
          <a:solidFill>
            <a:srgbClr val="F2ECE4"/>
          </a:solidFill>
          <a:ln w="254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69748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0">
                <a:solidFill>
                  <a:srgbClr val="2C2C2C"/>
                </a:solidFill>
                <a:latin typeface="阿里巴巴普惠体 Medium"/>
              </a:defRPr>
            </a:pPr>
            <a:r>
              <a:t>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651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C41E3A"/>
                </a:solidFill>
                <a:latin typeface="演示悠然小楷"/>
              </a:defRPr>
            </a:pPr>
            <a:r>
              <a:t>共育·旗帜所向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926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defRPr sz="1100" b="0">
                <a:solidFill>
                  <a:srgbClr val="888888"/>
                </a:solidFill>
                <a:latin typeface="阿里巴巴普惠体 Medium"/>
              </a:defRPr>
            </a:pPr>
            <a:r>
              <a:t>约10分钟</a:t>
            </a:r>
          </a:p>
        </p:txBody>
      </p:sp>
      <p:sp>
        <p:nvSpPr>
          <p:cNvPr id="22" name="Oval 21"/>
          <p:cNvSpPr/>
          <p:nvPr/>
        </p:nvSpPr>
        <p:spPr>
          <a:xfrm>
            <a:off x="7178040" y="3977640"/>
            <a:ext cx="411480" cy="411480"/>
          </a:xfrm>
          <a:prstGeom prst="ellipse">
            <a:avLst/>
          </a:prstGeom>
          <a:solidFill>
            <a:srgbClr val="F2ECE4"/>
          </a:solidFill>
          <a:ln w="254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069080"/>
            <a:ext cx="228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0">
                <a:solidFill>
                  <a:srgbClr val="2C2C2C"/>
                </a:solidFill>
                <a:latin typeface="阿里巴巴普惠体 Medium"/>
              </a:defRPr>
            </a:pPr>
            <a: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23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defRPr sz="1800" b="1">
                <a:solidFill>
                  <a:srgbClr val="C41E3A"/>
                </a:solidFill>
                <a:latin typeface="演示悠然小楷"/>
              </a:defRPr>
            </a:pPr>
            <a:r>
              <a:t>对话·星光汇合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297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defRPr sz="1100" b="0">
                <a:solidFill>
                  <a:srgbClr val="888888"/>
                </a:solidFill>
                <a:latin typeface="阿里巴巴普惠体 Medium"/>
              </a:defRPr>
            </a:pPr>
            <a:r>
              <a:t>约15分钟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manu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ln>
            <a:noFill/>
          </a:ln>
          <a:gradFill>
            <a:lin ang="0" scaled="0"/>
            <a:gsLst>
              <a:gs pos="0">
                <a:srgbClr val="C41E3A"/>
              </a:gs>
              <a:gs pos="100000">
                <a:srgbClr val="2C2C2C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914400" cy="5943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000"/>
              </a:lnSpc>
              <a:defRPr sz="1600" b="1">
                <a:solidFill>
                  <a:srgbClr val="D4A843"/>
                </a:solidFill>
                <a:latin typeface="演示悠然小楷"/>
              </a:defRPr>
            </a:pPr>
            <a:r>
              <a:t>中</a:t>
            </a:r>
            <a:br/>
            <a:r>
              <a:t>期</a:t>
            </a:r>
            <a:br/>
            <a:r>
              <a:t>战</a:t>
            </a:r>
            <a:br/>
            <a:r>
              <a:t>役</a:t>
            </a:r>
            <a:br/>
            <a:r>
              <a:t>数</a:t>
            </a:r>
            <a:br/>
            <a:r>
              <a:t>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defRPr sz="2600" b="1">
                <a:solidFill>
                  <a:srgbClr val="C41E3A"/>
                </a:solidFill>
                <a:latin typeface="演示悠然小楷"/>
              </a:defRPr>
            </a:pPr>
            <a:r>
              <a:t>学情透视：期中战役战报</a:t>
            </a:r>
          </a:p>
        </p:txBody>
      </p:sp>
      <p:sp>
        <p:nvSpPr>
          <p:cNvPr id="6" name="Wave 5"/>
          <p:cNvSpPr/>
          <p:nvPr/>
        </p:nvSpPr>
        <p:spPr>
          <a:xfrm>
            <a:off x="1828800" y="3657600"/>
            <a:ext cx="9144000" cy="3200400"/>
          </a:xfrm>
          <a:prstGeom prst="wav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912925"/>
            <a:ext cx="548640" cy="1287475"/>
          </a:xfrm>
          <a:prstGeom prst="rect">
            <a:avLst/>
          </a:prstGeom>
          <a:ln>
            <a:noFill/>
          </a:ln>
          <a:gradFill>
            <a:lin ang="5400000" scaled="0"/>
            <a:gsLst>
              <a:gs pos="0">
                <a:srgbClr val="C41E3A"/>
              </a:gs>
              <a:gs pos="100000">
                <a:srgbClr val="D4A843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97480" y="1821485"/>
            <a:ext cx="274320" cy="2743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993392"/>
            <a:ext cx="365760" cy="1207008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1">
                <a:solidFill>
                  <a:srgbClr val="2C2C2C"/>
                </a:solidFill>
                <a:latin typeface="阿里巴巴普惠体 Medium"/>
              </a:defRPr>
            </a:pPr>
            <a:r>
              <a:t>语文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073860"/>
            <a:ext cx="73152" cy="11265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926080"/>
            <a:ext cx="457200" cy="2286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890980"/>
            <a:ext cx="228600" cy="2286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909268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defRPr sz="1000" b="1">
                <a:solidFill>
                  <a:srgbClr val="FFFFFF"/>
                </a:solidFill>
                <a:latin typeface="阿里巴巴普惠体 Medium"/>
              </a:defRPr>
            </a:pPr>
            <a:r>
              <a:t>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72692"/>
            <a:ext cx="365760" cy="1327708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3375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1">
                <a:solidFill>
                  <a:srgbClr val="2C2C2C"/>
                </a:solidFill>
                <a:latin typeface="阿里巴巴普惠体 Medium"/>
              </a:defRPr>
            </a:pPr>
            <a:r>
              <a:t>数学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55495"/>
            <a:ext cx="73152" cy="844905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926080"/>
            <a:ext cx="457200" cy="2286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0" y="2172615"/>
            <a:ext cx="228600" cy="2286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190903"/>
            <a:ext cx="182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00"/>
              </a:lnSpc>
              <a:defRPr sz="1000" b="1">
                <a:solidFill>
                  <a:srgbClr val="FFFFFF"/>
                </a:solidFill>
                <a:latin typeface="阿里巴巴普惠体 Medium"/>
              </a:defRPr>
            </a:pPr>
            <a: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154327"/>
            <a:ext cx="365760" cy="1046073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3375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1">
                <a:solidFill>
                  <a:srgbClr val="2C2C2C"/>
                </a:solidFill>
                <a:latin typeface="阿里巴巴普惠体 Medium"/>
              </a:defRPr>
            </a:pPr>
            <a:r>
              <a:t>英语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792224"/>
            <a:ext cx="548640" cy="1408176"/>
          </a:xfrm>
          <a:prstGeom prst="rect">
            <a:avLst/>
          </a:prstGeom>
          <a:ln>
            <a:noFill/>
          </a:ln>
          <a:gradFill>
            <a:lin ang="5400000" scaled="0"/>
            <a:gsLst>
              <a:gs pos="0">
                <a:srgbClr val="C41E3A"/>
              </a:gs>
              <a:gs pos="100000">
                <a:srgbClr val="D4A843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09560" y="1700784"/>
            <a:ext cx="274320" cy="2743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993392"/>
            <a:ext cx="365760" cy="1207008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3375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1">
                <a:solidFill>
                  <a:srgbClr val="2C2C2C"/>
                </a:solidFill>
                <a:latin typeface="阿里巴巴普惠体 Medium"/>
              </a:defRPr>
            </a:pPr>
            <a:r>
              <a:t>物理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1671524"/>
            <a:ext cx="548640" cy="1528876"/>
          </a:xfrm>
          <a:prstGeom prst="rect">
            <a:avLst/>
          </a:prstGeom>
          <a:ln>
            <a:noFill/>
          </a:ln>
          <a:gradFill>
            <a:lin ang="5400000" scaled="0"/>
            <a:gsLst>
              <a:gs pos="0">
                <a:srgbClr val="C41E3A"/>
              </a:gs>
              <a:gs pos="100000">
                <a:srgbClr val="D4A843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46920" y="1580084"/>
            <a:ext cx="274320" cy="2743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32720" y="1751991"/>
            <a:ext cx="365760" cy="1448409"/>
          </a:xfrm>
          <a:prstGeom prst="rect">
            <a:avLst/>
          </a:prstGeom>
          <a:solidFill>
            <a:srgbClr val="2B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33756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00"/>
              </a:lnSpc>
              <a:defRPr sz="1200" b="1">
                <a:solidFill>
                  <a:srgbClr val="2C2C2C"/>
                </a:solidFill>
                <a:latin typeface="阿里巴巴普惠体 Medium"/>
              </a:defRPr>
            </a:pPr>
            <a:r>
              <a:t>历史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035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1">
                <a:solidFill>
                  <a:srgbClr val="C41E3A"/>
                </a:solidFill>
                <a:latin typeface="阿里巴巴普惠体 Medium"/>
              </a:defRPr>
            </a:pPr>
            <a:r>
              <a:t>▇ 英语防线巩固有效（+2分）      ▇ 数学阵地需重点支援（-5分）      ▇ 物理、历史优势保持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7607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defRPr sz="1100" b="0">
                <a:solidFill>
                  <a:srgbClr val="888888"/>
                </a:solidFill>
                <a:latin typeface="阿里巴巴普惠体 Medium"/>
              </a:defRPr>
            </a:pPr>
            <a:r>
              <a:t>战地手记：薄弱科目旗杆为铸铁色带警示标记，优势科目扬起金色飘带。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manu_tile.png"/>
          <p:cNvPicPr>
            <a:picLocks noChangeAspect="1"/>
          </p:cNvPicPr>
          <p:nvPr/>
        </p:nvPicPr>
        <p:blipFill>
          <a:blip r:embed="rId2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_rays_tile.png"/>
          <p:cNvPicPr>
            <a:picLocks noChangeAspect="1"/>
          </p:cNvPicPr>
          <p:nvPr/>
        </p:nvPicPr>
        <p:blipFill>
          <a:blip r:embed="rId3"/>
          <a:tile tx="0" ty="0" sx="100%" sy="100%" flip="none" algn="tl"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defRPr sz="2600" b="1">
                <a:solidFill>
                  <a:srgbClr val="C41E3A"/>
                </a:solidFill>
                <a:latin typeface="演示悠然小楷"/>
              </a:defRPr>
            </a:pPr>
            <a:r>
              <a:t>共育阵线：并肩作战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858000" cy="5029200"/>
          </a:xfrm>
          <a:prstGeom prst="rect">
            <a:avLst/>
          </a:prstGeom>
          <a:solidFill>
            <a:srgbClr val="F2ECE4"/>
          </a:solidFill>
          <a:ln w="19050">
            <a:solidFill>
              <a:srgbClr val="2C2C2C"/>
            </a:solidFill>
          </a:ln>
          <a:effectLst>
            <a:outerShdw blurRad="76200" dist="25400" dir="8100000" algn="tl">
              <a:srgbClr val="2C2C2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097280" y="1371600"/>
            <a:ext cx="365760" cy="274320"/>
          </a:xfrm>
          <a:prstGeom prst="rightArrow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1">
                <a:solidFill>
                  <a:srgbClr val="C41E3A"/>
                </a:solidFill>
                <a:latin typeface="演示悠然小楷"/>
              </a:defRPr>
            </a:pPr>
            <a:r>
              <a:t>战场一：手机依赖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258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00"/>
              </a:lnSpc>
              <a:defRPr sz="1800" b="0">
                <a:solidFill>
                  <a:srgbClr val="2C2C2C"/>
                </a:solidFill>
                <a:latin typeface="阿里巴巴普惠体 Medium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1">
                <a:solidFill>
                  <a:srgbClr val="D4A843"/>
                </a:solidFill>
                <a:latin typeface="阿里巴巴普惠体 Medium"/>
              </a:defRPr>
            </a:pPr>
            <a:r>
              <a:t>每日契约执行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97280" y="2560320"/>
            <a:ext cx="365760" cy="274320"/>
          </a:xfrm>
          <a:prstGeom prst="rightArrow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5146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1">
                <a:solidFill>
                  <a:srgbClr val="C41E3A"/>
                </a:solidFill>
                <a:latin typeface="演示悠然小楷"/>
              </a:defRPr>
            </a:pPr>
            <a:r>
              <a:t>战场二：作业应付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146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00"/>
              </a:lnSpc>
              <a:defRPr sz="1800" b="0">
                <a:solidFill>
                  <a:srgbClr val="2C2C2C"/>
                </a:solidFill>
                <a:latin typeface="阿里巴巴普惠体 Medium"/>
              </a:defRPr>
            </a:pPr>
            <a: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3464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1">
                <a:solidFill>
                  <a:srgbClr val="D4A843"/>
                </a:solidFill>
                <a:latin typeface="阿里巴巴普惠体 Medium"/>
              </a:defRPr>
            </a:pPr>
            <a:r>
              <a:t>检查思考痕迹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97280" y="3749039"/>
            <a:ext cx="365760" cy="274320"/>
          </a:xfrm>
          <a:prstGeom prst="rightArrow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70331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1">
                <a:solidFill>
                  <a:srgbClr val="C41E3A"/>
                </a:solidFill>
                <a:latin typeface="演示悠然小楷"/>
              </a:defRPr>
            </a:pPr>
            <a:r>
              <a:t>战场三：情绪管理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03319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00"/>
              </a:lnSpc>
              <a:defRPr sz="1800" b="0">
                <a:solidFill>
                  <a:srgbClr val="2C2C2C"/>
                </a:solidFill>
                <a:latin typeface="阿里巴巴普惠体 Medium"/>
              </a:defRPr>
            </a:pPr>
            <a: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23359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1">
                <a:solidFill>
                  <a:srgbClr val="D4A843"/>
                </a:solidFill>
                <a:latin typeface="阿里巴巴普惠体 Medium"/>
              </a:defRPr>
            </a:pPr>
            <a:r>
              <a:t>每周15分钟倾听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ln>
            <a:noFill/>
          </a:ln>
          <a:gradFill>
            <a:lin ang="0" scaled="0"/>
            <a:gsLst>
              <a:gs pos="0">
                <a:srgbClr val="2C2C2C"/>
              </a:gs>
              <a:gs pos="100000">
                <a:srgbClr val="5C3A1E"/>
              </a:gs>
            </a:gsLst>
          </a:gradFill>
          <a:effectLst>
            <a:outerShdw blurRad="127000" dist="50800" dir="8100000" algn="tl">
              <a:srgbClr val="2C2C2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00"/>
              </a:lnSpc>
              <a:defRPr sz="1800" b="1">
                <a:solidFill>
                  <a:srgbClr val="C41E3A"/>
                </a:solidFill>
                <a:latin typeface="演示悠然小楷"/>
              </a:defRPr>
            </a:pPr>
            <a:r>
              <a:t>后方稳固，前线必胜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834640"/>
            <a:ext cx="2286000" cy="640080"/>
          </a:xfrm>
          <a:prstGeom prst="rect">
            <a:avLst/>
          </a:prstGeom>
          <a:solidFill>
            <a:srgbClr val="F2ECE4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88036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39"/>
              </a:lnSpc>
              <a:defRPr sz="1100" b="1">
                <a:solidFill>
                  <a:srgbClr val="2C2C2C"/>
                </a:solidFill>
                <a:latin typeface="阿里巴巴普惠体 Medium"/>
              </a:defRPr>
            </a:pPr>
            <a:r>
              <a:t>家庭行动</a:t>
            </a:r>
            <a:br/>
            <a:r>
              <a:t>锦囊①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657600"/>
            <a:ext cx="2286000" cy="640080"/>
          </a:xfrm>
          <a:prstGeom prst="rect">
            <a:avLst/>
          </a:prstGeom>
          <a:solidFill>
            <a:srgbClr val="F2ECE4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70332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39"/>
              </a:lnSpc>
              <a:defRPr sz="1100" b="1">
                <a:solidFill>
                  <a:srgbClr val="2C2C2C"/>
                </a:solidFill>
                <a:latin typeface="阿里巴巴普惠体 Medium"/>
              </a:defRPr>
            </a:pPr>
            <a:r>
              <a:t>家庭行动</a:t>
            </a:r>
            <a:br/>
            <a:r>
              <a:t>锦囊②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480560"/>
            <a:ext cx="2286000" cy="640080"/>
          </a:xfrm>
          <a:prstGeom prst="rect">
            <a:avLst/>
          </a:prstGeom>
          <a:solidFill>
            <a:srgbClr val="F2ECE4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45262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39"/>
              </a:lnSpc>
              <a:defRPr sz="1100" b="1">
                <a:solidFill>
                  <a:srgbClr val="2C2C2C"/>
                </a:solidFill>
                <a:latin typeface="阿里巴巴普惠体 Medium"/>
              </a:defRPr>
            </a:pPr>
            <a:r>
              <a:t>家庭行动</a:t>
            </a:r>
            <a:br/>
            <a:r>
              <a:t>锦囊③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ln>
            <a:noFill/>
          </a:ln>
          <a:gradFill>
            <a:lin ang="5400000" scaled="0"/>
            <a:gsLst>
              <a:gs pos="0">
                <a:srgbClr val="F2ECE4"/>
              </a:gs>
              <a:gs pos="100000">
                <a:srgbClr val="2B5B84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0">
            <a:off x="9144000" y="3200400"/>
            <a:ext cx="548640" cy="384048"/>
          </a:xfrm>
          <a:prstGeom prst="rect">
            <a:avLst/>
          </a:prstGeom>
        </p:spPr>
      </p:pic>
      <p:pic>
        <p:nvPicPr>
          <p:cNvPr id="4" name="Picture 3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7772400" y="2560320"/>
            <a:ext cx="731520" cy="512063"/>
          </a:xfrm>
          <a:prstGeom prst="rect">
            <a:avLst/>
          </a:prstGeom>
        </p:spPr>
      </p:pic>
      <p:pic>
        <p:nvPicPr>
          <p:cNvPr id="5" name="Picture 4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>
            <a:off x="6400800" y="1828800"/>
            <a:ext cx="914400" cy="640080"/>
          </a:xfrm>
          <a:prstGeom prst="rect">
            <a:avLst/>
          </a:prstGeom>
        </p:spPr>
      </p:pic>
      <p:pic>
        <p:nvPicPr>
          <p:cNvPr id="6" name="Picture 5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">
            <a:off x="5029200" y="1097280"/>
            <a:ext cx="640080" cy="448055"/>
          </a:xfrm>
          <a:prstGeom prst="rect">
            <a:avLst/>
          </a:prstGeom>
        </p:spPr>
      </p:pic>
      <p:pic>
        <p:nvPicPr>
          <p:cNvPr id="7" name="Picture 6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0000">
            <a:off x="3657600" y="548640"/>
            <a:ext cx="457200" cy="320040"/>
          </a:xfrm>
          <a:prstGeom prst="rect">
            <a:avLst/>
          </a:prstGeom>
        </p:spPr>
      </p:pic>
      <p:pic>
        <p:nvPicPr>
          <p:cNvPr id="8" name="Picture 7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0000">
            <a:off x="5943600" y="2926080"/>
            <a:ext cx="457200" cy="320040"/>
          </a:xfrm>
          <a:prstGeom prst="rect">
            <a:avLst/>
          </a:prstGeom>
        </p:spPr>
      </p:pic>
      <p:pic>
        <p:nvPicPr>
          <p:cNvPr id="9" name="Picture 8" descr="_d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8686800" y="1371600"/>
            <a:ext cx="548640" cy="38404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1905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0" y="4114800"/>
            <a:ext cx="9144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5712" y="3977639"/>
            <a:ext cx="109728" cy="109728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4114800"/>
            <a:ext cx="9144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91472" y="3977639"/>
            <a:ext cx="109728" cy="109728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4114800"/>
            <a:ext cx="9144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57232" y="3977639"/>
            <a:ext cx="109728" cy="109728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4114800"/>
            <a:ext cx="9144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22992" y="3977639"/>
            <a:ext cx="109728" cy="109728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0" y="4114800"/>
            <a:ext cx="9144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88752" y="3977639"/>
            <a:ext cx="109728" cy="109728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680"/>
              </a:lnSpc>
              <a:defRPr sz="2600" b="1">
                <a:solidFill>
                  <a:srgbClr val="C41E3A"/>
                </a:solidFill>
                <a:latin typeface="演示悠然小楷"/>
              </a:defRPr>
            </a:pPr>
            <a:r>
              <a:t>每一代人都有属于自己的长征，</a:t>
            </a:r>
            <a:br/>
            <a:r>
              <a:t>我们与孩子互为战友。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200" b="0">
                <a:solidFill>
                  <a:srgbClr val="2C2C2C"/>
                </a:solidFill>
                <a:latin typeface="阿里巴巴普惠体 Medium"/>
              </a:defRPr>
            </a:pPr>
            <a:r>
              <a:t>班主任电话：138-xxxx-xxxx  |  办公时间：周一至周五 8:00-17:00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