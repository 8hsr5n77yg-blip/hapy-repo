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班级平均</c:v>
                </c:pt>
              </c:strCache>
            </c:strRef>
          </c:tx>
          <c:spPr>
            <a:solidFill>
              <a:srgbClr val="1B3A4B"/>
            </a:solidFill>
          </c:spPr>
          <c:cat>
            <c:strRef>
              <c:f>Sheet1!$A$2:$A$6</c:f>
              <c:strCache>
                <c:ptCount val="5"/>
                <c:pt idx="0">
                  <c:v>语文</c:v>
                </c:pt>
                <c:pt idx="1">
                  <c:v>数学</c:v>
                </c:pt>
                <c:pt idx="2">
                  <c:v>英语</c:v>
                </c:pt>
                <c:pt idx="3">
                  <c:v>物理</c:v>
                </c:pt>
                <c:pt idx="4">
                  <c:v>历史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78</c:v>
                </c:pt>
                <c:pt idx="2">
                  <c:v>71</c:v>
                </c:pt>
                <c:pt idx="3">
                  <c:v>85</c:v>
                </c:pt>
                <c:pt idx="4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年级平均</c:v>
                </c:pt>
              </c:strCache>
            </c:strRef>
          </c:tx>
          <c:spPr>
            <a:solidFill>
              <a:srgbClr val="D5D5D5"/>
            </a:solidFill>
          </c:spPr>
          <c:cat>
            <c:strRef>
              <c:f>Sheet1!$A$2:$A$6</c:f>
              <c:strCache>
                <c:ptCount val="5"/>
                <c:pt idx="0">
                  <c:v>语文</c:v>
                </c:pt>
                <c:pt idx="1">
                  <c:v>数学</c:v>
                </c:pt>
                <c:pt idx="2">
                  <c:v>英语</c:v>
                </c:pt>
                <c:pt idx="3">
                  <c:v>物理</c:v>
                </c:pt>
                <c:pt idx="4">
                  <c:v>历史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83</c:v>
                </c:pt>
                <c:pt idx="2">
                  <c:v>76</c:v>
                </c:pt>
                <c:pt idx="3">
                  <c:v>80</c:v>
                </c:pt>
                <c:pt idx="4">
                  <c:v>86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思源黑体 Regula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5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overlay val="0"/>
      <c:txPr>
        <a:bodyPr/>
        <a:lstStyle/>
        <a:p>
          <a:pPr>
            <a:defRPr sz="1100">
              <a:latin typeface="思源黑体 Regula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texture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90895" y="1097280"/>
            <a:ext cx="5029200" cy="5029200"/>
          </a:xfrm>
          <a:prstGeom prst="ellipse">
            <a:avLst/>
          </a:prstGeom>
          <a:ln>
            <a:noFill/>
          </a:ln>
          <a:gradFill>
            <a:path path="circle">
              <a:fillToRect l="50000" t="50000" r="50000" b="50000"/>
            </a:path>
            <a:gsLst>
              <a:gs pos="0">
                <a:srgbClr val="C69C6D">
                  <a:alpha val="12000"/>
                </a:srgbClr>
              </a:gs>
              <a:gs pos="100000">
                <a:srgbClr val="C69C6D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9144000" y="4389120"/>
            <a:ext cx="457200" cy="640080"/>
          </a:xfrm>
          <a:prstGeom prst="line">
            <a:avLst/>
          </a:prstGeom>
          <a:ln w="76200">
            <a:solidFill>
              <a:srgbClr val="1B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9326880" y="3657600"/>
            <a:ext cx="274320" cy="731520"/>
          </a:xfrm>
          <a:prstGeom prst="line">
            <a:avLst/>
          </a:prstGeom>
          <a:ln w="57150">
            <a:solidFill>
              <a:srgbClr val="1B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8961120" y="3200400"/>
            <a:ext cx="365760" cy="457200"/>
          </a:xfrm>
          <a:prstGeom prst="line">
            <a:avLst/>
          </a:prstGeom>
          <a:ln w="38100">
            <a:solidFill>
              <a:srgbClr val="1B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8412480" y="2926080"/>
            <a:ext cx="548640" cy="274320"/>
          </a:xfrm>
          <a:prstGeom prst="line">
            <a:avLst/>
          </a:prstGeom>
          <a:ln w="25400">
            <a:solidFill>
              <a:srgbClr val="1B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29600" y="2743200"/>
            <a:ext cx="109728" cy="109728"/>
          </a:xfrm>
          <a:prstGeom prst="ellipse">
            <a:avLst/>
          </a:prstGeom>
          <a:solidFill>
            <a:srgbClr val="C69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2606040"/>
            <a:ext cx="73152" cy="73152"/>
          </a:xfrm>
          <a:prstGeom prst="ellipse">
            <a:avLst/>
          </a:prstGeom>
          <a:solidFill>
            <a:srgbClr val="C69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66760" y="2423160"/>
            <a:ext cx="45720" cy="45720"/>
          </a:xfrm>
          <a:prstGeom prst="ellipse">
            <a:avLst/>
          </a:prstGeom>
          <a:solidFill>
            <a:srgbClr val="C69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188720"/>
            <a:ext cx="9601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500"/>
              </a:lnSpc>
              <a:defRPr sz="5200" b="1">
                <a:solidFill>
                  <a:srgbClr val="1B3A4B"/>
                </a:solidFill>
                <a:latin typeface="思源宋体 Heavy"/>
              </a:defRPr>
            </a:pPr>
            <a:r>
              <a:t>2025-2026学年第二学期</a:t>
              <a:rPr>
                <a:effectLst>
                  <a:outerShdw blurRad="25400" dist="25400" dir="2700000" algn="tl">
                    <a:srgbClr val="C69C6D">
                      <a:alpha val="20000"/>
                    </a:srgbClr>
                  </a:outerShdw>
                </a:effectLst>
              </a:rPr>
            </a:r>
            <a:br/>
            <a:r>
              <a:t>期中家长会</a:t>
              <a:rPr>
                <a:effectLst>
                  <a:outerShdw blurRad="25400" dist="25400" dir="2700000" algn="tl">
                    <a:srgbClr val="C69C6D">
                      <a:alpha val="20000"/>
                    </a:srgbClr>
                  </a:outerShdw>
                </a:effectLst>
              </a:rPr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3017520"/>
            <a:ext cx="914400" cy="0"/>
          </a:xfrm>
          <a:prstGeom prst="line">
            <a:avLst/>
          </a:prstGeom>
          <a:ln w="19050">
            <a:solidFill>
              <a:srgbClr val="C69C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3108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defRPr sz="2400" b="0">
                <a:solidFill>
                  <a:srgbClr val="C69C6D"/>
                </a:solidFill>
                <a:latin typeface="思源宋体 Heavy"/>
              </a:defRPr>
            </a:pPr>
            <a:r>
              <a:t>同 心 同 行 ， 看 见 成 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3931920"/>
            <a:ext cx="3931920" cy="0"/>
          </a:xfrm>
          <a:prstGeom prst="line">
            <a:avLst/>
          </a:prstGeom>
          <a:ln w="10160">
            <a:solidFill>
              <a:srgbClr val="C69C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4114800"/>
            <a:ext cx="4572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0"/>
              </a:lnSpc>
              <a:defRPr sz="1400" b="0">
                <a:solidFill>
                  <a:srgbClr val="888888"/>
                </a:solidFill>
                <a:latin typeface="思源黑体 Regular"/>
              </a:defRPr>
            </a:pPr>
            <a:r>
              <a:t>某某中学</a:t>
            </a:r>
          </a:p>
          <a:p>
            <a:pPr algn="l">
              <a:lnSpc>
                <a:spcPts val="2520"/>
              </a:lnSpc>
              <a:defRPr sz="1400" b="0">
                <a:solidFill>
                  <a:srgbClr val="888888"/>
                </a:solidFill>
                <a:latin typeface="思源黑体 Regular"/>
              </a:defRPr>
            </a:pPr>
            <a:r>
              <a:t>七年级（3）班</a:t>
            </a:r>
          </a:p>
          <a:p>
            <a:pPr algn="l">
              <a:lnSpc>
                <a:spcPts val="2520"/>
              </a:lnSpc>
              <a:defRPr sz="1400" b="0">
                <a:solidFill>
                  <a:srgbClr val="888888"/>
                </a:solidFill>
                <a:latin typeface="思源黑体 Regular"/>
              </a:defRPr>
            </a:pPr>
            <a:r>
              <a:t>班主任：张老师  ·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texture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ln>
            <a:noFill/>
          </a:ln>
          <a:gradFill>
            <a:lin ang="0" scaled="0"/>
            <a:gsLst>
              <a:gs pos="0">
                <a:srgbClr val="1B3A4B">
                  <a:alpha val="8000"/>
                </a:srgbClr>
              </a:gs>
              <a:gs pos="100000">
                <a:srgbClr val="FBF7F0">
                  <a:alpha val="0"/>
                </a:srgb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200"/>
              </a:lnSpc>
              <a:defRPr sz="2800" b="1">
                <a:solidFill>
                  <a:srgbClr val="1B3A4B"/>
                </a:solidFill>
                <a:latin typeface="思源宋体 Heavy"/>
              </a:defRPr>
            </a:pPr>
            <a:r>
              <a:t>会议议程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1463040"/>
            <a:ext cx="0" cy="3566160"/>
          </a:xfrm>
          <a:prstGeom prst="line">
            <a:avLst/>
          </a:prstGeom>
          <a:ln w="15240">
            <a:solidFill>
              <a:srgbClr val="1B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975104" y="1426464"/>
            <a:ext cx="219456" cy="219456"/>
          </a:xfrm>
          <a:prstGeom prst="ellipse">
            <a:avLst/>
          </a:prstGeom>
          <a:noFill/>
          <a:ln w="19050">
            <a:solidFill>
              <a:srgbClr val="C69C6D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1463040"/>
            <a:ext cx="146304" cy="146304"/>
          </a:xfrm>
          <a:prstGeom prst="ellipse">
            <a:avLst/>
          </a:prstGeom>
          <a:solidFill>
            <a:srgbClr val="C69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44475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1">
                <a:solidFill>
                  <a:srgbClr val="1B3A4B"/>
                </a:solidFill>
                <a:latin typeface="思源宋体 Heavy"/>
              </a:defRPr>
            </a:pPr>
            <a:r>
              <a:t>壹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371600"/>
            <a:ext cx="71323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4B"/>
            </a:solidFill>
          </a:ln>
          <a:effectLst>
            <a:outerShdw blurRad="76200" dist="25400" dir="8100000" algn="tl">
              <a:srgbClr val="1B3A4B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508760"/>
            <a:ext cx="6675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800" b="1">
                <a:solidFill>
                  <a:srgbClr val="1B3A4B"/>
                </a:solidFill>
                <a:latin typeface="思源黑体 Regular"/>
              </a:defRPr>
            </a:pPr>
            <a:r>
              <a:t>学期回顾与数据分析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1810512"/>
            <a:ext cx="1143000" cy="0"/>
          </a:xfrm>
          <a:prstGeom prst="line">
            <a:avLst/>
          </a:prstGeom>
          <a:ln w="6350">
            <a:solidFill>
              <a:srgbClr val="C69C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69080" y="1883664"/>
            <a:ext cx="6675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888888"/>
                </a:solidFill>
                <a:latin typeface="思源黑体 Regular"/>
              </a:defRPr>
            </a:pPr>
            <a:r>
              <a:t>期中考试成绩总览、班级亮点与不足</a:t>
            </a:r>
          </a:p>
        </p:txBody>
      </p:sp>
      <p:sp>
        <p:nvSpPr>
          <p:cNvPr id="13" name="Oval 12"/>
          <p:cNvSpPr/>
          <p:nvPr/>
        </p:nvSpPr>
        <p:spPr>
          <a:xfrm>
            <a:off x="1975104" y="2615184"/>
            <a:ext cx="219456" cy="219456"/>
          </a:xfrm>
          <a:prstGeom prst="ellipse">
            <a:avLst/>
          </a:prstGeom>
          <a:noFill/>
          <a:ln w="19050">
            <a:solidFill>
              <a:srgbClr val="C69C6D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11680" y="2651760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63347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1">
                <a:solidFill>
                  <a:srgbClr val="1B3A4B"/>
                </a:solidFill>
                <a:latin typeface="思源宋体 Heavy"/>
              </a:defRPr>
            </a:pPr>
            <a:r>
              <a:t>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560320"/>
            <a:ext cx="7132320" cy="960120"/>
          </a:xfrm>
          <a:prstGeom prst="rect">
            <a:avLst/>
          </a:prstGeom>
          <a:solidFill>
            <a:srgbClr val="FFFFFF"/>
          </a:solidFill>
          <a:ln w="50800">
            <a:solidFill>
              <a:srgbClr val="E07A5F"/>
            </a:solidFill>
          </a:ln>
          <a:effectLst>
            <a:outerShdw blurRad="76200" dist="25400" dir="8100000" algn="tl">
              <a:srgbClr val="1B3A4B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52760" y="2624328"/>
            <a:ext cx="91440" cy="91440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glow rad="50800">
              <a:srgbClr val="E07A5F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2697480"/>
            <a:ext cx="6675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800" b="1">
                <a:solidFill>
                  <a:srgbClr val="1B3A4B"/>
                </a:solidFill>
                <a:latin typeface="思源黑体 Regular"/>
              </a:defRPr>
            </a:pPr>
            <a:r>
              <a:t>学习表现深度解读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69080" y="2999232"/>
            <a:ext cx="1143000" cy="0"/>
          </a:xfrm>
          <a:prstGeom prst="line">
            <a:avLst/>
          </a:prstGeom>
          <a:ln w="6350">
            <a:solidFill>
              <a:srgbClr val="C69C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69080" y="3072384"/>
            <a:ext cx="6675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888888"/>
                </a:solidFill>
                <a:latin typeface="思源黑体 Regular"/>
              </a:defRPr>
            </a:pPr>
            <a:r>
              <a:t>各科进步情况、课堂表现评估</a:t>
            </a:r>
          </a:p>
        </p:txBody>
      </p:sp>
      <p:sp>
        <p:nvSpPr>
          <p:cNvPr id="21" name="Oval 20"/>
          <p:cNvSpPr/>
          <p:nvPr/>
        </p:nvSpPr>
        <p:spPr>
          <a:xfrm>
            <a:off x="1975104" y="3803904"/>
            <a:ext cx="219456" cy="219456"/>
          </a:xfrm>
          <a:prstGeom prst="ellipse">
            <a:avLst/>
          </a:prstGeom>
          <a:noFill/>
          <a:ln w="19050">
            <a:solidFill>
              <a:srgbClr val="C69C6D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3840480"/>
            <a:ext cx="146304" cy="146304"/>
          </a:xfrm>
          <a:prstGeom prst="ellipse">
            <a:avLst/>
          </a:prstGeom>
          <a:solidFill>
            <a:srgbClr val="C69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382219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1">
                <a:solidFill>
                  <a:srgbClr val="1B3A4B"/>
                </a:solidFill>
                <a:latin typeface="思源宋体 Heavy"/>
              </a:defRPr>
            </a:pPr>
            <a:r>
              <a:t>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749040"/>
            <a:ext cx="71323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4B"/>
            </a:solidFill>
          </a:ln>
          <a:effectLst>
            <a:outerShdw blurRad="76200" dist="25400" dir="8100000" algn="tl">
              <a:srgbClr val="1B3A4B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3886200"/>
            <a:ext cx="6675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800" b="1">
                <a:solidFill>
                  <a:srgbClr val="1B3A4B"/>
                </a:solidFill>
                <a:latin typeface="思源黑体 Regular"/>
              </a:defRPr>
            </a:pPr>
            <a:r>
              <a:t>共性问题与配合建议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69080" y="4187952"/>
            <a:ext cx="1143000" cy="0"/>
          </a:xfrm>
          <a:prstGeom prst="line">
            <a:avLst/>
          </a:prstGeom>
          <a:ln w="6350">
            <a:solidFill>
              <a:srgbClr val="C69C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69080" y="4261104"/>
            <a:ext cx="6675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888888"/>
                </a:solidFill>
                <a:latin typeface="思源黑体 Regular"/>
              </a:defRPr>
            </a:pPr>
            <a:r>
              <a:t>手机管理、作业习惯、心理状态</a:t>
            </a:r>
          </a:p>
        </p:txBody>
      </p:sp>
      <p:sp>
        <p:nvSpPr>
          <p:cNvPr id="28" name="Oval 27"/>
          <p:cNvSpPr/>
          <p:nvPr/>
        </p:nvSpPr>
        <p:spPr>
          <a:xfrm>
            <a:off x="1975104" y="4992624"/>
            <a:ext cx="219456" cy="219456"/>
          </a:xfrm>
          <a:prstGeom prst="ellipse">
            <a:avLst/>
          </a:prstGeom>
          <a:noFill/>
          <a:ln w="19050">
            <a:solidFill>
              <a:srgbClr val="C69C6D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11680" y="5029200"/>
            <a:ext cx="146304" cy="146304"/>
          </a:xfrm>
          <a:prstGeom prst="ellipse">
            <a:avLst/>
          </a:prstGeom>
          <a:solidFill>
            <a:srgbClr val="C69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5010912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1">
                <a:solidFill>
                  <a:srgbClr val="1B3A4B"/>
                </a:solidFill>
                <a:latin typeface="思源宋体 Heavy"/>
              </a:defRPr>
            </a:pPr>
            <a:r>
              <a:t>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937760"/>
            <a:ext cx="71323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4B"/>
            </a:solidFill>
          </a:ln>
          <a:effectLst>
            <a:outerShdw blurRad="76200" dist="25400" dir="8100000" algn="tl">
              <a:srgbClr val="1B3A4B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5074920"/>
            <a:ext cx="6675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800" b="1">
                <a:solidFill>
                  <a:srgbClr val="1B3A4B"/>
                </a:solidFill>
                <a:latin typeface="思源黑体 Regular"/>
              </a:defRPr>
            </a:pPr>
            <a:r>
              <a:t>家校沟通与答疑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69080" y="5376672"/>
            <a:ext cx="1143000" cy="0"/>
          </a:xfrm>
          <a:prstGeom prst="line">
            <a:avLst/>
          </a:prstGeom>
          <a:ln w="6350">
            <a:solidFill>
              <a:srgbClr val="C69C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69080" y="5449824"/>
            <a:ext cx="6675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888888"/>
                </a:solidFill>
                <a:latin typeface="思源黑体 Regular"/>
              </a:defRPr>
            </a:pPr>
            <a:r>
              <a:t>自由交流、个别咨询安排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texture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200"/>
              </a:lnSpc>
              <a:defRPr sz="2800" b="1">
                <a:solidFill>
                  <a:srgbClr val="1B3A4B"/>
                </a:solidFill>
                <a:latin typeface="思源宋体 Heavy"/>
              </a:defRPr>
            </a:pPr>
            <a:r>
              <a:t>学习表现数据：期中成绩对比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82296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  <a:effectLst>
          <a:outerShdw blurRad="127000" dist="38100" dir="8100000" algn="tl">
            <a:srgbClr val="1B3A4B">
              <a:alpha val="10000"/>
            </a:srgbClr>
          </a:outerShdw>
        </a:effectLst>
      </p:graphicFrame>
      <p:sp>
        <p:nvSpPr>
          <p:cNvPr id="5" name="TextBox 4"/>
          <p:cNvSpPr txBox="1"/>
          <p:nvPr/>
        </p:nvSpPr>
        <p:spPr>
          <a:xfrm>
            <a:off x="1097280" y="502920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defRPr sz="1500" b="1">
                <a:solidFill>
                  <a:srgbClr val="1B3A4B"/>
                </a:solidFill>
                <a:latin typeface="思源黑体 Regular"/>
              </a:defRPr>
            </a:pPr>
            <a:r>
              <a:t>▇ 数学（-5分）年级差距最大       ▇ 物理（+5分）班级优势明显       ▇ 英语（-5分）需重点关注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406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>
                <a:solidFill>
                  <a:srgbClr val="888888"/>
                </a:solidFill>
                <a:latin typeface="思源黑体 Regular"/>
              </a:defRPr>
            </a:pPr>
            <a:r>
              <a:t>数学和英语是唯二低于或等于年级平均的学科，建议优先强化这两个科目的基础训练与错题整理。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texture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200"/>
              </a:lnSpc>
              <a:defRPr sz="2800" b="1">
                <a:solidFill>
                  <a:srgbClr val="1B3A4B"/>
                </a:solidFill>
                <a:latin typeface="思源宋体 Heavy"/>
              </a:defRPr>
            </a:pPr>
            <a:r>
              <a:t>共性问题与配合建议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4114800" cy="1463040"/>
          </a:xfrm>
          <a:prstGeom prst="rect">
            <a:avLst/>
          </a:prstGeom>
          <a:solidFill>
            <a:srgbClr val="E8EEF2"/>
          </a:solidFill>
          <a:ln w="6350">
            <a:solidFill>
              <a:srgbClr val="1B3A4B"/>
            </a:solidFill>
          </a:ln>
          <a:effectLst>
            <a:outerShdw blurRad="63500" dist="19050" dir="8100000" algn="tl">
              <a:srgbClr val="1B3A4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325880"/>
            <a:ext cx="502920" cy="50292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280160"/>
            <a:ext cx="594360" cy="594360"/>
          </a:xfrm>
          <a:prstGeom prst="ellipse">
            <a:avLst/>
          </a:prstGeom>
          <a:solidFill>
            <a:srgbClr val="E07A5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500"/>
              </a:lnSpc>
              <a:defRPr sz="3000" b="1">
                <a:solidFill>
                  <a:srgbClr val="FFFFFF"/>
                </a:solidFill>
                <a:latin typeface="DIN Alternate Bold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50"/>
              </a:lnSpc>
              <a:defRPr sz="1700" b="1">
                <a:solidFill>
                  <a:srgbClr val="1B3A4B"/>
                </a:solidFill>
                <a:latin typeface="思源黑体 Regular"/>
              </a:defRPr>
            </a:pPr>
            <a:r>
              <a:t>手机使用时间过长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1325880"/>
            <a:ext cx="411480" cy="411480"/>
          </a:xfrm>
          <a:prstGeom prst="ellipse">
            <a:avLst/>
          </a:prstGeom>
          <a:noFill/>
          <a:ln w="19050">
            <a:solidFill>
              <a:srgbClr val="C69C6D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3248" y="137160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400" b="1">
                <a:solidFill>
                  <a:srgbClr val="1B3A4B"/>
                </a:solidFill>
                <a:latin typeface="思源黑体 Regular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32588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500" b="1">
                <a:solidFill>
                  <a:srgbClr val="1B3A4B"/>
                </a:solidFill>
                <a:latin typeface="思源黑体 Regular"/>
              </a:defRPr>
            </a:pPr>
            <a:r>
              <a:t>→ 执行手机契约</a:t>
            </a:r>
            <a:br/>
            <a:r>
              <a:t>→ 检查过程痕迹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788920"/>
            <a:ext cx="10698480" cy="0"/>
          </a:xfrm>
          <a:prstGeom prst="line">
            <a:avLst/>
          </a:prstGeom>
          <a:ln w="6350">
            <a:solidFill>
              <a:srgbClr val="CCC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1520" y="2926080"/>
            <a:ext cx="4114800" cy="1463040"/>
          </a:xfrm>
          <a:prstGeom prst="rect">
            <a:avLst/>
          </a:prstGeom>
          <a:solidFill>
            <a:srgbClr val="E8EEF2"/>
          </a:solidFill>
          <a:ln w="6350">
            <a:solidFill>
              <a:srgbClr val="1B3A4B"/>
            </a:solidFill>
          </a:ln>
          <a:effectLst>
            <a:outerShdw blurRad="63500" dist="19050" dir="8100000" algn="tl">
              <a:srgbClr val="1B3A4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063240"/>
            <a:ext cx="502920" cy="50292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017520"/>
            <a:ext cx="594360" cy="594360"/>
          </a:xfrm>
          <a:prstGeom prst="ellipse">
            <a:avLst/>
          </a:prstGeom>
          <a:solidFill>
            <a:srgbClr val="E07A5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500"/>
              </a:lnSpc>
              <a:defRPr sz="3000" b="1">
                <a:solidFill>
                  <a:srgbClr val="FFFFFF"/>
                </a:solidFill>
                <a:latin typeface="DIN Alternate Bold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089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50"/>
              </a:lnSpc>
              <a:defRPr sz="1700" b="1">
                <a:solidFill>
                  <a:srgbClr val="1B3A4B"/>
                </a:solidFill>
                <a:latin typeface="思源黑体 Regular"/>
              </a:defRPr>
            </a:pPr>
            <a:r>
              <a:t>作业完成质量不高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0" y="3063240"/>
            <a:ext cx="411480" cy="411480"/>
          </a:xfrm>
          <a:prstGeom prst="ellipse">
            <a:avLst/>
          </a:prstGeom>
          <a:noFill/>
          <a:ln w="19050">
            <a:solidFill>
              <a:srgbClr val="C69C6D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248" y="310896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400" b="1">
                <a:solidFill>
                  <a:srgbClr val="1B3A4B"/>
                </a:solidFill>
                <a:latin typeface="思源黑体 Regular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06324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500" b="1">
                <a:solidFill>
                  <a:srgbClr val="1B3A4B"/>
                </a:solidFill>
                <a:latin typeface="思源黑体 Regular"/>
              </a:defRPr>
            </a:pPr>
            <a:r>
              <a:t>→ 检查过程痕迹</a:t>
            </a:r>
            <a:br/>
            <a:r>
              <a:t>→ 建立错题本制度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526280"/>
            <a:ext cx="10698480" cy="0"/>
          </a:xfrm>
          <a:prstGeom prst="line">
            <a:avLst/>
          </a:prstGeom>
          <a:ln w="6350">
            <a:solidFill>
              <a:srgbClr val="CCC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31520" y="4663440"/>
            <a:ext cx="4114800" cy="1463040"/>
          </a:xfrm>
          <a:prstGeom prst="rect">
            <a:avLst/>
          </a:prstGeom>
          <a:solidFill>
            <a:srgbClr val="E8EEF2"/>
          </a:solidFill>
          <a:ln w="6350">
            <a:solidFill>
              <a:srgbClr val="1B3A4B"/>
            </a:solidFill>
          </a:ln>
          <a:effectLst>
            <a:outerShdw blurRad="63500" dist="19050" dir="8100000" algn="tl">
              <a:srgbClr val="1B3A4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4800600"/>
            <a:ext cx="502920" cy="50292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4754880"/>
            <a:ext cx="594360" cy="594360"/>
          </a:xfrm>
          <a:prstGeom prst="ellipse">
            <a:avLst/>
          </a:prstGeom>
          <a:solidFill>
            <a:srgbClr val="E07A5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463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500"/>
              </a:lnSpc>
              <a:defRPr sz="3000" b="1">
                <a:solidFill>
                  <a:srgbClr val="FFFFFF"/>
                </a:solidFill>
                <a:latin typeface="DIN Alternate Bold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46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50"/>
              </a:lnSpc>
              <a:defRPr sz="1700" b="1">
                <a:solidFill>
                  <a:srgbClr val="1B3A4B"/>
                </a:solidFill>
                <a:latin typeface="思源黑体 Regular"/>
              </a:defRPr>
            </a:pPr>
            <a:r>
              <a:t>课堂专注度下滑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0" y="4800600"/>
            <a:ext cx="411480" cy="411480"/>
          </a:xfrm>
          <a:prstGeom prst="ellipse">
            <a:avLst/>
          </a:prstGeom>
          <a:noFill/>
          <a:ln w="19050">
            <a:solidFill>
              <a:srgbClr val="C69C6D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3248" y="484632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400" b="1">
                <a:solidFill>
                  <a:srgbClr val="1B3A4B"/>
                </a:solidFill>
                <a:latin typeface="思源黑体 Regular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80060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500" b="1">
                <a:solidFill>
                  <a:srgbClr val="1B3A4B"/>
                </a:solidFill>
                <a:latin typeface="思源黑体 Regular"/>
              </a:defRPr>
            </a:pPr>
            <a:r>
              <a:t>→ 每日3分钟复盘</a:t>
            </a:r>
            <a:br/>
            <a:r>
              <a:t>→ 保证充足睡眠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-1371600"/>
            <a:ext cx="6400800" cy="6400800"/>
          </a:xfrm>
          <a:prstGeom prst="ellipse">
            <a:avLst/>
          </a:prstGeom>
          <a:ln>
            <a:noFill/>
          </a:ln>
          <a:gradFill>
            <a:path path="circle">
              <a:fillToRect l="50000" t="50000" r="50000" b="50000"/>
            </a:path>
            <a:gsLst>
              <a:gs pos="0">
                <a:srgbClr val="C69C6D">
                  <a:alpha val="12000"/>
                </a:srgbClr>
              </a:gs>
              <a:gs pos="100000">
                <a:srgbClr val="C69C6D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texture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200"/>
              </a:lnSpc>
              <a:defRPr sz="2800" b="1">
                <a:solidFill>
                  <a:srgbClr val="1B3A4B"/>
                </a:solidFill>
                <a:latin typeface="思源宋体 Heavy"/>
              </a:defRPr>
            </a:pPr>
            <a:r>
              <a:t>家校沟通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3474720"/>
          </a:xfrm>
          <a:prstGeom prst="roundRect">
            <a:avLst>
              <a:gd name="adj" fmla="val 1880"/>
            </a:avLst>
          </a:prstGeom>
          <a:solidFill>
            <a:srgbClr val="E8E3D8"/>
          </a:solidFill>
          <a:ln w="38100">
            <a:solidFill>
              <a:srgbClr val="FFFFFF"/>
            </a:solidFill>
          </a:ln>
          <a:effectLst>
            <a:outerShdw blurRad="152400" dist="50800" dir="8100000" algn="tl">
              <a:srgbClr val="1B3A4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000"/>
              </a:lnSpc>
              <a:defRPr sz="2000" b="0">
                <a:solidFill>
                  <a:srgbClr val="888888"/>
                </a:solidFill>
                <a:latin typeface="思源黑体 Regular"/>
              </a:defRPr>
            </a:pPr>
            <a:r>
              <a:t>📷  插入班级合照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50"/>
              </a:lnSpc>
              <a:defRPr sz="1500" b="1">
                <a:solidFill>
                  <a:srgbClr val="C69C6D"/>
                </a:solidFill>
                <a:latin typeface="思源黑体 Regular"/>
              </a:defRPr>
            </a:pPr>
            <a:r>
              <a:t>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defRPr sz="1300" b="0">
                <a:solidFill>
                  <a:srgbClr val="888888"/>
                </a:solidFill>
                <a:latin typeface="思源黑体 Regular"/>
              </a:defRPr>
            </a:pPr>
            <a:r>
              <a:t>班主任电话：138-xxxx-xxxx</a:t>
            </a:r>
          </a:p>
          <a:p>
            <a:pPr algn="l">
              <a:lnSpc>
                <a:spcPts val="2860"/>
              </a:lnSpc>
              <a:defRPr sz="1300" b="0">
                <a:solidFill>
                  <a:srgbClr val="888888"/>
                </a:solidFill>
                <a:latin typeface="思源黑体 Regular"/>
              </a:defRPr>
            </a:pPr>
            <a:r>
              <a:t>办公时间：周一至周五 8:00-17:00</a:t>
            </a:r>
          </a:p>
          <a:p>
            <a:pPr algn="l">
              <a:lnSpc>
                <a:spcPts val="2860"/>
              </a:lnSpc>
              <a:defRPr sz="1300" b="0">
                <a:solidFill>
                  <a:srgbClr val="888888"/>
                </a:solidFill>
                <a:latin typeface="思源黑体 Regular"/>
              </a:defRPr>
            </a:pPr>
            <a:r>
              <a:t>班级通知群：微信群 / 钉钉群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663440"/>
            <a:ext cx="1828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000"/>
              </a:lnSpc>
              <a:defRPr sz="8000" b="0">
                <a:solidFill>
                  <a:srgbClr val="C69C6D"/>
                </a:solidFill>
                <a:latin typeface="思源宋体 Heavy"/>
              </a:defRPr>
            </a:pPr>
            <a:r>
              <a:t>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2200" b="0">
                <a:solidFill>
                  <a:srgbClr val="1B3A4B"/>
                </a:solidFill>
                <a:latin typeface="思源宋体 Heavy"/>
              </a:defRPr>
            </a:pPr>
            <a:r>
              <a:t>没有完美的孩子，</a:t>
            </a:r>
            <a:br/>
            <a:r>
              <a:t>也没有完美的家长，</a:t>
            </a:r>
            <a:br/>
            <a:r>
              <a:t>只有不断靠近真实的理解。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6400800"/>
            <a:ext cx="10698480" cy="0"/>
          </a:xfrm>
          <a:prstGeom prst="line">
            <a:avLst/>
          </a:prstGeom>
          <a:ln w="6350">
            <a:solidFill>
              <a:srgbClr val="C69C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